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Poppins Italics" charset="1" panose="00000500000000000000"/>
      <p:regular r:id="rId19"/>
    </p:embeddedFont>
    <p:embeddedFont>
      <p:font typeface="Poppins Bold Italics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2" Target="../media/image9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jpe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6056795"/>
            <a:chOff x="0" y="0"/>
            <a:chExt cx="24384000" cy="8075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075676"/>
            </a:xfrm>
            <a:custGeom>
              <a:avLst/>
              <a:gdLst/>
              <a:ahLst/>
              <a:cxnLst/>
              <a:rect r="r" b="b" t="t" l="l"/>
              <a:pathLst>
                <a:path h="807567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075676"/>
                  </a:lnTo>
                  <a:lnTo>
                    <a:pt x="0" y="8075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3" r="0" b="-32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69702" y="2040720"/>
            <a:ext cx="7972818" cy="1565626"/>
          </a:xfrm>
          <a:custGeom>
            <a:avLst/>
            <a:gdLst/>
            <a:ahLst/>
            <a:cxnLst/>
            <a:rect r="r" b="b" t="t" l="l"/>
            <a:pathLst>
              <a:path h="1565626" w="7972818">
                <a:moveTo>
                  <a:pt x="0" y="0"/>
                </a:moveTo>
                <a:lnTo>
                  <a:pt x="7972818" y="0"/>
                </a:lnTo>
                <a:lnTo>
                  <a:pt x="7972818" y="1565626"/>
                </a:lnTo>
                <a:lnTo>
                  <a:pt x="0" y="15656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5421" y="6396590"/>
            <a:ext cx="17337148" cy="414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b="true" sz="36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Team Details</a:t>
            </a:r>
          </a:p>
          <a:p>
            <a:pPr algn="l">
              <a:lnSpc>
                <a:spcPts val="3135"/>
              </a:lnSpc>
            </a:pPr>
          </a:p>
          <a:p>
            <a:pPr algn="l" marL="2214880" indent="-553720" lvl="3">
              <a:lnSpc>
                <a:spcPts val="5184"/>
              </a:lnSpc>
              <a:buAutoNum type="alphaLcPeriod" startAt="1"/>
            </a:pPr>
            <a:r>
              <a:rPr lang="en-US" sz="3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Team name:</a:t>
            </a:r>
            <a:r>
              <a:rPr lang="en-US" b="true" sz="36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 Xcape matriX</a:t>
            </a:r>
          </a:p>
          <a:p>
            <a:pPr algn="l" marL="2214880" indent="-553720" lvl="3">
              <a:lnSpc>
                <a:spcPts val="5184"/>
              </a:lnSpc>
              <a:buAutoNum type="alphaLcPeriod" startAt="1"/>
            </a:pPr>
            <a:r>
              <a:rPr lang="en-US" sz="3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Team leader name:</a:t>
            </a:r>
            <a:r>
              <a:rPr lang="en-US" b="true" sz="36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 Tanveer Pasha S   &amp;   Vishwas K</a:t>
            </a:r>
          </a:p>
          <a:p>
            <a:pPr algn="l" marL="2214677" indent="-553669" lvl="3">
              <a:lnSpc>
                <a:spcPts val="5184"/>
              </a:lnSpc>
              <a:buAutoNum type="alphaLcPeriod" startAt="1"/>
            </a:pPr>
            <a:r>
              <a:rPr lang="en-US" sz="3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Problem Statement:</a:t>
            </a:r>
            <a:r>
              <a:rPr lang="en-US" b="true" sz="36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 Open Innovation – Campus &amp; Student Life</a:t>
            </a:r>
          </a:p>
          <a:p>
            <a:pPr algn="l">
              <a:lnSpc>
                <a:spcPts val="5184"/>
              </a:lnSpc>
            </a:pPr>
          </a:p>
          <a:p>
            <a:pPr algn="l" marL="1722684" indent="-430671" lvl="3">
              <a:lnSpc>
                <a:spcPts val="3135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928836" y="3052108"/>
            <a:ext cx="474938" cy="1693666"/>
          </a:xfrm>
          <a:custGeom>
            <a:avLst/>
            <a:gdLst/>
            <a:ahLst/>
            <a:cxnLst/>
            <a:rect r="r" b="b" t="t" l="l"/>
            <a:pathLst>
              <a:path h="1693666" w="474938">
                <a:moveTo>
                  <a:pt x="0" y="0"/>
                </a:moveTo>
                <a:lnTo>
                  <a:pt x="474938" y="0"/>
                </a:lnTo>
                <a:lnTo>
                  <a:pt x="474938" y="1693666"/>
                </a:lnTo>
                <a:lnTo>
                  <a:pt x="0" y="1693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9703" y="1343101"/>
            <a:ext cx="9567367" cy="221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7"/>
              </a:lnSpc>
            </a:pPr>
            <a:r>
              <a:rPr lang="en-US" b="true" sz="9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Namma Hack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21880" y="643140"/>
            <a:ext cx="6262804" cy="1299114"/>
          </a:xfrm>
          <a:custGeom>
            <a:avLst/>
            <a:gdLst/>
            <a:ahLst/>
            <a:cxnLst/>
            <a:rect r="r" b="b" t="t" l="l"/>
            <a:pathLst>
              <a:path h="1299114" w="6262804">
                <a:moveTo>
                  <a:pt x="0" y="0"/>
                </a:moveTo>
                <a:lnTo>
                  <a:pt x="6262804" y="0"/>
                </a:lnTo>
                <a:lnTo>
                  <a:pt x="6262804" y="1299114"/>
                </a:lnTo>
                <a:lnTo>
                  <a:pt x="0" y="12991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69703" y="622621"/>
            <a:ext cx="6129528" cy="812159"/>
            <a:chOff x="0" y="0"/>
            <a:chExt cx="8172704" cy="10828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72704" cy="1082929"/>
            </a:xfrm>
            <a:custGeom>
              <a:avLst/>
              <a:gdLst/>
              <a:ahLst/>
              <a:cxnLst/>
              <a:rect r="r" b="b" t="t" l="l"/>
              <a:pathLst>
                <a:path h="1082929" w="8172704">
                  <a:moveTo>
                    <a:pt x="0" y="0"/>
                  </a:moveTo>
                  <a:lnTo>
                    <a:pt x="8172704" y="0"/>
                  </a:lnTo>
                  <a:lnTo>
                    <a:pt x="8172704" y="1082929"/>
                  </a:lnTo>
                  <a:lnTo>
                    <a:pt x="0" y="1082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14" r="0" b="-31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979" y="0"/>
            <a:ext cx="4737926" cy="627774"/>
            <a:chOff x="0" y="0"/>
            <a:chExt cx="6317234" cy="837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17234" cy="837057"/>
            </a:xfrm>
            <a:custGeom>
              <a:avLst/>
              <a:gdLst/>
              <a:ahLst/>
              <a:cxnLst/>
              <a:rect r="r" b="b" t="t" l="l"/>
              <a:pathLst>
                <a:path h="837057" w="6317234">
                  <a:moveTo>
                    <a:pt x="0" y="0"/>
                  </a:moveTo>
                  <a:lnTo>
                    <a:pt x="6317234" y="0"/>
                  </a:lnTo>
                  <a:lnTo>
                    <a:pt x="6317234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14" r="0" b="-31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10603" y="6965420"/>
            <a:ext cx="6328688" cy="3321580"/>
          </a:xfrm>
          <a:custGeom>
            <a:avLst/>
            <a:gdLst/>
            <a:ahLst/>
            <a:cxnLst/>
            <a:rect r="r" b="b" t="t" l="l"/>
            <a:pathLst>
              <a:path h="3321580" w="6328688">
                <a:moveTo>
                  <a:pt x="0" y="0"/>
                </a:moveTo>
                <a:lnTo>
                  <a:pt x="6328688" y="0"/>
                </a:lnTo>
                <a:lnTo>
                  <a:pt x="6328688" y="3321580"/>
                </a:lnTo>
                <a:lnTo>
                  <a:pt x="0" y="3321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20" r="0" b="-192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02823" y="7130680"/>
            <a:ext cx="5863786" cy="3195763"/>
          </a:xfrm>
          <a:custGeom>
            <a:avLst/>
            <a:gdLst/>
            <a:ahLst/>
            <a:cxnLst/>
            <a:rect r="r" b="b" t="t" l="l"/>
            <a:pathLst>
              <a:path h="3195763" w="5863786">
                <a:moveTo>
                  <a:pt x="0" y="0"/>
                </a:moveTo>
                <a:lnTo>
                  <a:pt x="5863786" y="0"/>
                </a:lnTo>
                <a:lnTo>
                  <a:pt x="5863786" y="3195764"/>
                </a:lnTo>
                <a:lnTo>
                  <a:pt x="0" y="31957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522" y="733309"/>
            <a:ext cx="11371994" cy="608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b="true" sz="24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  <a:p>
            <a:pPr algn="l">
              <a:lnSpc>
                <a:spcPts val="3167"/>
              </a:lnSpc>
              <a:spcBef>
                <a:spcPct val="0"/>
              </a:spcBef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Within college campuses, there exists a critical knowledge gap between seniors who secure placements and juniors who are preparing for them.</a:t>
            </a:r>
          </a:p>
          <a:p>
            <a:pPr algn="l">
              <a:lnSpc>
                <a:spcPts val="3167"/>
              </a:lnSpc>
              <a:spcBef>
                <a:spcPct val="0"/>
              </a:spcBef>
            </a:pPr>
            <a:r>
              <a:rPr lang="en-US" b="true" sz="2199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Currently:</a:t>
            </a:r>
          </a:p>
          <a:p>
            <a:pPr algn="l" marL="474979" indent="-237490" lvl="1">
              <a:lnSpc>
                <a:spcPts val="3167"/>
              </a:lnSpc>
              <a:buFont typeface="Arial"/>
              <a:buChar char="•"/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Placement experiences are scattered across WhatsApp groups, informal chats, or not shared at all</a:t>
            </a:r>
          </a:p>
          <a:p>
            <a:pPr algn="l" marL="474979" indent="-237490" lvl="1">
              <a:lnSpc>
                <a:spcPts val="3167"/>
              </a:lnSpc>
              <a:buFont typeface="Arial"/>
              <a:buChar char="•"/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Juniors hesitate to approach seniors directly</a:t>
            </a:r>
          </a:p>
          <a:p>
            <a:pPr algn="l" marL="474979" indent="-237490" lvl="1">
              <a:lnSpc>
                <a:spcPts val="3167"/>
              </a:lnSpc>
              <a:buFont typeface="Arial"/>
              <a:buChar char="•"/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Information shared is often incomplete and unstructured</a:t>
            </a:r>
          </a:p>
          <a:p>
            <a:pPr algn="l" marL="474979" indent="-237490" lvl="1">
              <a:lnSpc>
                <a:spcPts val="3167"/>
              </a:lnSpc>
              <a:buFont typeface="Arial"/>
              <a:buChar char="•"/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Seniors repeatedly answer the same questions, leading to burnout</a:t>
            </a:r>
          </a:p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b="true" sz="24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This results in:</a:t>
            </a:r>
          </a:p>
          <a:p>
            <a:pPr algn="l" marL="474979" indent="-237490" lvl="1">
              <a:lnSpc>
                <a:spcPts val="3167"/>
              </a:lnSpc>
              <a:buFont typeface="Arial"/>
              <a:buChar char="•"/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Increased anxiety among juniors</a:t>
            </a:r>
          </a:p>
          <a:p>
            <a:pPr algn="l" marL="474979" indent="-237490" lvl="1">
              <a:lnSpc>
                <a:spcPts val="3167"/>
              </a:lnSpc>
              <a:buFont typeface="Arial"/>
              <a:buChar char="•"/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Repeated preparation mistakes</a:t>
            </a:r>
          </a:p>
          <a:p>
            <a:pPr algn="l" marL="474979" indent="-237490" lvl="1">
              <a:lnSpc>
                <a:spcPts val="3167"/>
              </a:lnSpc>
              <a:buFont typeface="Arial"/>
              <a:buChar char="•"/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Inefficient use of campus knowledge</a:t>
            </a:r>
          </a:p>
          <a:p>
            <a:pPr algn="l" marL="474979" indent="-237490" lvl="1">
              <a:lnSpc>
                <a:spcPts val="3167"/>
              </a:lnSpc>
              <a:buFont typeface="Arial"/>
              <a:buChar char="•"/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There is no trusted, structured, college-verified system to preserve and pass down placement knowledge.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792998" y="8366697"/>
            <a:ext cx="3156117" cy="891603"/>
          </a:xfrm>
          <a:custGeom>
            <a:avLst/>
            <a:gdLst/>
            <a:ahLst/>
            <a:cxnLst/>
            <a:rect r="r" b="b" t="t" l="l"/>
            <a:pathLst>
              <a:path h="891603" w="3156117">
                <a:moveTo>
                  <a:pt x="0" y="0"/>
                </a:moveTo>
                <a:lnTo>
                  <a:pt x="3156117" y="0"/>
                </a:lnTo>
                <a:lnTo>
                  <a:pt x="3156117" y="891603"/>
                </a:lnTo>
                <a:lnTo>
                  <a:pt x="0" y="8916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2142294" y="418984"/>
            <a:ext cx="6145706" cy="671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b="true" sz="24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Our Solution: The Campus Playbook</a:t>
            </a:r>
          </a:p>
          <a:p>
            <a:pPr algn="l">
              <a:lnSpc>
                <a:spcPts val="3167"/>
              </a:lnSpc>
              <a:spcBef>
                <a:spcPct val="0"/>
              </a:spcBef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 Campus Playbook is a college-exclusive, peer-driven platform where seniors document their complete placement journeys in a structured format, and juniors access them to prepare effectively.</a:t>
            </a:r>
          </a:p>
          <a:p>
            <a:pPr algn="l">
              <a:lnSpc>
                <a:spcPts val="3829"/>
              </a:lnSpc>
              <a:spcBef>
                <a:spcPct val="0"/>
              </a:spcBef>
            </a:pPr>
          </a:p>
          <a:p>
            <a:pPr algn="l">
              <a:lnSpc>
                <a:spcPts val="3594"/>
              </a:lnSpc>
              <a:spcBef>
                <a:spcPct val="0"/>
              </a:spcBef>
            </a:pPr>
            <a:r>
              <a:rPr lang="en-US" b="true" sz="2495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By Seniors, For Juniors.</a:t>
            </a:r>
          </a:p>
          <a:p>
            <a:pPr algn="l" marL="474979" indent="-237490" lvl="1">
              <a:lnSpc>
                <a:spcPts val="3167"/>
              </a:lnSpc>
              <a:buFont typeface="Arial"/>
              <a:buChar char="•"/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 permanent placement knowledge        archive for the campus.</a:t>
            </a:r>
          </a:p>
          <a:p>
            <a:pPr algn="l">
              <a:lnSpc>
                <a:spcPts val="3829"/>
              </a:lnSpc>
              <a:spcBef>
                <a:spcPct val="0"/>
              </a:spcBef>
            </a:pPr>
          </a:p>
          <a:p>
            <a:pPr algn="l">
              <a:lnSpc>
                <a:spcPts val="3594"/>
              </a:lnSpc>
              <a:spcBef>
                <a:spcPct val="0"/>
              </a:spcBef>
            </a:pPr>
            <a:r>
              <a:rPr lang="en-US" b="true" sz="2495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The platform ensures:</a:t>
            </a:r>
          </a:p>
          <a:p>
            <a:pPr algn="l" marL="474979" indent="-237490" lvl="1">
              <a:lnSpc>
                <a:spcPts val="3167"/>
              </a:lnSpc>
              <a:buFont typeface="Arial"/>
              <a:buChar char="•"/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Verified college-only access</a:t>
            </a:r>
          </a:p>
          <a:p>
            <a:pPr algn="l" marL="474979" indent="-237490" lvl="1">
              <a:lnSpc>
                <a:spcPts val="3167"/>
              </a:lnSpc>
              <a:buFont typeface="Arial"/>
              <a:buChar char="•"/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Honest and detailed experiences</a:t>
            </a:r>
          </a:p>
          <a:p>
            <a:pPr algn="l" marL="474979" indent="-237490" lvl="1">
              <a:lnSpc>
                <a:spcPts val="3167"/>
              </a:lnSpc>
              <a:buFont typeface="Arial"/>
              <a:buChar char="•"/>
            </a:pPr>
            <a:r>
              <a:rPr lang="en-US" sz="2199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Long-term knowledge preservation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53981" y="-85725"/>
            <a:ext cx="7980038" cy="100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0"/>
              </a:lnSpc>
              <a:spcBef>
                <a:spcPct val="0"/>
              </a:spcBef>
            </a:pPr>
            <a:r>
              <a:rPr lang="en-US" b="true" sz="266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 Problem Statement addressing  and Solution  </a:t>
            </a:r>
          </a:p>
          <a:p>
            <a:pPr algn="ctr">
              <a:lnSpc>
                <a:spcPts val="405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015987" y="621088"/>
            <a:ext cx="6891338" cy="294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  <a:spcBef>
                <a:spcPct val="0"/>
              </a:spcBef>
            </a:pPr>
            <a:r>
              <a:rPr lang="en-US" sz="1599" i="true">
                <a:solidFill>
                  <a:srgbClr val="43434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“ </a:t>
            </a:r>
            <a:r>
              <a:rPr lang="en-US" sz="1599" i="true">
                <a:solidFill>
                  <a:srgbClr val="43434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By Seniors, For Juniors – A Verified Placement Knowledge Archive “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3658" y="0"/>
            <a:ext cx="4737926" cy="627774"/>
            <a:chOff x="0" y="0"/>
            <a:chExt cx="6317234" cy="837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17234" cy="837057"/>
            </a:xfrm>
            <a:custGeom>
              <a:avLst/>
              <a:gdLst/>
              <a:ahLst/>
              <a:cxnLst/>
              <a:rect r="r" b="b" t="t" l="l"/>
              <a:pathLst>
                <a:path h="837057" w="6317234">
                  <a:moveTo>
                    <a:pt x="0" y="0"/>
                  </a:moveTo>
                  <a:lnTo>
                    <a:pt x="6317234" y="0"/>
                  </a:lnTo>
                  <a:lnTo>
                    <a:pt x="6317234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14" r="0" b="-31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562453" y="4781815"/>
            <a:ext cx="8445154" cy="5505185"/>
          </a:xfrm>
          <a:custGeom>
            <a:avLst/>
            <a:gdLst/>
            <a:ahLst/>
            <a:cxnLst/>
            <a:rect r="r" b="b" t="t" l="l"/>
            <a:pathLst>
              <a:path h="5505185" w="8445154">
                <a:moveTo>
                  <a:pt x="0" y="0"/>
                </a:moveTo>
                <a:lnTo>
                  <a:pt x="8445154" y="0"/>
                </a:lnTo>
                <a:lnTo>
                  <a:pt x="8445154" y="5505185"/>
                </a:lnTo>
                <a:lnTo>
                  <a:pt x="0" y="55051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47806" y="313887"/>
            <a:ext cx="7674447" cy="4182574"/>
          </a:xfrm>
          <a:custGeom>
            <a:avLst/>
            <a:gdLst/>
            <a:ahLst/>
            <a:cxnLst/>
            <a:rect r="r" b="b" t="t" l="l"/>
            <a:pathLst>
              <a:path h="4182574" w="7674447">
                <a:moveTo>
                  <a:pt x="0" y="0"/>
                </a:moveTo>
                <a:lnTo>
                  <a:pt x="7674448" y="0"/>
                </a:lnTo>
                <a:lnTo>
                  <a:pt x="7674448" y="4182574"/>
                </a:lnTo>
                <a:lnTo>
                  <a:pt x="0" y="4182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029" y="1052500"/>
            <a:ext cx="9584112" cy="1708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is this solution different?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Existing platforms are public, generic, and unverified, often focusing only on success highlights.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Campus Playbook is built on trust, structure, and relevance.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029" y="3185249"/>
            <a:ext cx="9976514" cy="254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differentiators :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 restricted to official college email IDs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Content shared only by verified seniors from the same campus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Structured, step-by-step interview documentation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Mandatory inclusion of mistakes and learnings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Option for controlled anonymity to encourage honesty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029" y="6397511"/>
            <a:ext cx="10414586" cy="254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Opportunity :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Improves placement preparedness across the campus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Reduces inequality in access to guidance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Minimizes repetitive effort by seniors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Creates a long-term institutional knowledge base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 be scaled to other colleges in the future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60931" y="-64637"/>
            <a:ext cx="6569393" cy="60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Uniqueness and Oppurtunities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5627" y="0"/>
            <a:ext cx="4737926" cy="627774"/>
            <a:chOff x="0" y="0"/>
            <a:chExt cx="6317234" cy="837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17234" cy="837057"/>
            </a:xfrm>
            <a:custGeom>
              <a:avLst/>
              <a:gdLst/>
              <a:ahLst/>
              <a:cxnLst/>
              <a:rect r="r" b="b" t="t" l="l"/>
              <a:pathLst>
                <a:path h="837057" w="6317234">
                  <a:moveTo>
                    <a:pt x="0" y="0"/>
                  </a:moveTo>
                  <a:lnTo>
                    <a:pt x="6317234" y="0"/>
                  </a:lnTo>
                  <a:lnTo>
                    <a:pt x="6317234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14" r="0" b="-31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244405" y="2798239"/>
            <a:ext cx="8606461" cy="4690521"/>
          </a:xfrm>
          <a:custGeom>
            <a:avLst/>
            <a:gdLst/>
            <a:ahLst/>
            <a:cxnLst/>
            <a:rect r="r" b="b" t="t" l="l"/>
            <a:pathLst>
              <a:path h="4690521" w="8606461">
                <a:moveTo>
                  <a:pt x="0" y="0"/>
                </a:moveTo>
                <a:lnTo>
                  <a:pt x="8606462" y="0"/>
                </a:lnTo>
                <a:lnTo>
                  <a:pt x="8606462" y="4690522"/>
                </a:lnTo>
                <a:lnTo>
                  <a:pt x="0" y="4690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49086">
            <a:off x="10723053" y="-108310"/>
            <a:ext cx="1005095" cy="3153240"/>
          </a:xfrm>
          <a:custGeom>
            <a:avLst/>
            <a:gdLst/>
            <a:ahLst/>
            <a:cxnLst/>
            <a:rect r="r" b="b" t="t" l="l"/>
            <a:pathLst>
              <a:path h="3153240" w="1005095">
                <a:moveTo>
                  <a:pt x="0" y="0"/>
                </a:moveTo>
                <a:lnTo>
                  <a:pt x="1005095" y="0"/>
                </a:lnTo>
                <a:lnTo>
                  <a:pt x="1005095" y="3153240"/>
                </a:lnTo>
                <a:lnTo>
                  <a:pt x="0" y="3153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08963" y="-24631"/>
            <a:ext cx="11352328" cy="57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4"/>
              </a:lnSpc>
            </a:pPr>
            <a:r>
              <a:rPr lang="en-US" b="true" sz="31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List of features offered by the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7836" y="704672"/>
            <a:ext cx="8966569" cy="945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9"/>
              </a:lnSpc>
              <a:spcBef>
                <a:spcPct val="0"/>
              </a:spcBef>
            </a:pPr>
            <a:r>
              <a:rPr lang="en-US" b="true" sz="2652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🔐  </a:t>
            </a:r>
            <a:r>
              <a:rPr lang="en-US" b="true" sz="2652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College-Exclusive Authentication:</a:t>
            </a:r>
            <a:r>
              <a:rPr lang="en-US" sz="2652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 Secure login using official college email IDs only</a:t>
            </a:r>
          </a:p>
          <a:p>
            <a:pPr algn="l">
              <a:lnSpc>
                <a:spcPts val="3819"/>
              </a:lnSpc>
              <a:spcBef>
                <a:spcPct val="0"/>
              </a:spcBef>
            </a:pPr>
          </a:p>
          <a:p>
            <a:pPr algn="l">
              <a:lnSpc>
                <a:spcPts val="3819"/>
              </a:lnSpc>
              <a:spcBef>
                <a:spcPct val="0"/>
              </a:spcBef>
            </a:pPr>
            <a:r>
              <a:rPr lang="en-US" sz="2652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📘  </a:t>
            </a:r>
            <a:r>
              <a:rPr lang="en-US" b="true" sz="2652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Structured Playbook Submissions:</a:t>
            </a:r>
            <a:r>
              <a:rPr lang="en-US" sz="2652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 Guided forms capturing complete interview journeys</a:t>
            </a:r>
          </a:p>
          <a:p>
            <a:pPr algn="l">
              <a:lnSpc>
                <a:spcPts val="3819"/>
              </a:lnSpc>
              <a:spcBef>
                <a:spcPct val="0"/>
              </a:spcBef>
            </a:pPr>
          </a:p>
          <a:p>
            <a:pPr algn="l">
              <a:lnSpc>
                <a:spcPts val="3819"/>
              </a:lnSpc>
              <a:spcBef>
                <a:spcPct val="0"/>
              </a:spcBef>
            </a:pPr>
            <a:r>
              <a:rPr lang="en-US" sz="2652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🎭 </a:t>
            </a:r>
            <a:r>
              <a:rPr lang="en-US" b="true" sz="2652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Controlled Anonymity: </a:t>
            </a:r>
            <a:r>
              <a:rPr lang="en-US" sz="2652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Seniors may choose to publish with or without their identity</a:t>
            </a:r>
          </a:p>
          <a:p>
            <a:pPr algn="l">
              <a:lnSpc>
                <a:spcPts val="3819"/>
              </a:lnSpc>
              <a:spcBef>
                <a:spcPct val="0"/>
              </a:spcBef>
            </a:pPr>
          </a:p>
          <a:p>
            <a:pPr algn="l">
              <a:lnSpc>
                <a:spcPts val="3819"/>
              </a:lnSpc>
              <a:spcBef>
                <a:spcPct val="0"/>
              </a:spcBef>
            </a:pPr>
            <a:r>
              <a:rPr lang="en-US" sz="2652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🔍 </a:t>
            </a:r>
            <a:r>
              <a:rPr lang="en-US" b="true" sz="2652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Search and Filters:</a:t>
            </a:r>
            <a:r>
              <a:rPr lang="en-US" sz="2652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 Filter by company, role, placement type, and branch</a:t>
            </a:r>
          </a:p>
          <a:p>
            <a:pPr algn="l">
              <a:lnSpc>
                <a:spcPts val="3819"/>
              </a:lnSpc>
              <a:spcBef>
                <a:spcPct val="0"/>
              </a:spcBef>
            </a:pPr>
          </a:p>
          <a:p>
            <a:pPr algn="l">
              <a:lnSpc>
                <a:spcPts val="3819"/>
              </a:lnSpc>
              <a:spcBef>
                <a:spcPct val="0"/>
              </a:spcBef>
            </a:pPr>
            <a:r>
              <a:rPr lang="en-US" sz="2652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📊 </a:t>
            </a:r>
            <a:r>
              <a:rPr lang="en-US" b="true" sz="2652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Unified Dashboard:</a:t>
            </a:r>
            <a:r>
              <a:rPr lang="en-US" sz="2652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 Single dashboard for both juniors and seniors</a:t>
            </a:r>
          </a:p>
          <a:p>
            <a:pPr algn="l">
              <a:lnSpc>
                <a:spcPts val="3819"/>
              </a:lnSpc>
              <a:spcBef>
                <a:spcPct val="0"/>
              </a:spcBef>
            </a:pPr>
          </a:p>
          <a:p>
            <a:pPr algn="l">
              <a:lnSpc>
                <a:spcPts val="3819"/>
              </a:lnSpc>
              <a:spcBef>
                <a:spcPct val="0"/>
              </a:spcBef>
            </a:pPr>
            <a:r>
              <a:rPr lang="en-US" sz="2652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✍️  </a:t>
            </a:r>
            <a:r>
              <a:rPr lang="en-US" b="true" sz="2652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Multi-Step Contribution Flow:</a:t>
            </a:r>
            <a:r>
              <a:rPr lang="en-US" sz="2652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 Progress-based submission to ensure high-quality data</a:t>
            </a:r>
          </a:p>
          <a:p>
            <a:pPr algn="l">
              <a:lnSpc>
                <a:spcPts val="3819"/>
              </a:lnSpc>
              <a:spcBef>
                <a:spcPct val="0"/>
              </a:spcBef>
            </a:pPr>
          </a:p>
          <a:p>
            <a:pPr algn="ctr">
              <a:lnSpc>
                <a:spcPts val="3504"/>
              </a:lnSpc>
            </a:pPr>
            <a:r>
              <a:rPr lang="en-US" b="true" sz="2433" i="true">
                <a:solidFill>
                  <a:srgbClr val="434343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Each feature is designed to directly address a real campus problem.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9602" y="348348"/>
            <a:ext cx="3653057" cy="654853"/>
            <a:chOff x="0" y="0"/>
            <a:chExt cx="4870742" cy="87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0704" cy="873125"/>
            </a:xfrm>
            <a:custGeom>
              <a:avLst/>
              <a:gdLst/>
              <a:ahLst/>
              <a:cxnLst/>
              <a:rect r="r" b="b" t="t" l="l"/>
              <a:pathLst>
                <a:path h="873125" w="4870704">
                  <a:moveTo>
                    <a:pt x="0" y="0"/>
                  </a:moveTo>
                  <a:lnTo>
                    <a:pt x="4870704" y="0"/>
                  </a:lnTo>
                  <a:lnTo>
                    <a:pt x="4870704" y="873125"/>
                  </a:lnTo>
                  <a:lnTo>
                    <a:pt x="0" y="87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" r="0" b="-10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9602" y="375428"/>
            <a:ext cx="4737926" cy="627774"/>
            <a:chOff x="0" y="0"/>
            <a:chExt cx="6317234" cy="8370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17234" cy="837057"/>
            </a:xfrm>
            <a:custGeom>
              <a:avLst/>
              <a:gdLst/>
              <a:ahLst/>
              <a:cxnLst/>
              <a:rect r="r" b="b" t="t" l="l"/>
              <a:pathLst>
                <a:path h="837057" w="6317234">
                  <a:moveTo>
                    <a:pt x="0" y="0"/>
                  </a:moveTo>
                  <a:lnTo>
                    <a:pt x="6317234" y="0"/>
                  </a:lnTo>
                  <a:lnTo>
                    <a:pt x="6317234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4" r="0" b="-31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057527" y="1177424"/>
            <a:ext cx="8088257" cy="4408100"/>
          </a:xfrm>
          <a:custGeom>
            <a:avLst/>
            <a:gdLst/>
            <a:ahLst/>
            <a:cxnLst/>
            <a:rect r="r" b="b" t="t" l="l"/>
            <a:pathLst>
              <a:path h="4408100" w="8088257">
                <a:moveTo>
                  <a:pt x="0" y="0"/>
                </a:moveTo>
                <a:lnTo>
                  <a:pt x="8088258" y="0"/>
                </a:lnTo>
                <a:lnTo>
                  <a:pt x="8088258" y="4408100"/>
                </a:lnTo>
                <a:lnTo>
                  <a:pt x="0" y="4408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57527" y="3515"/>
            <a:ext cx="12201773" cy="58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b="true" sz="32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Google Technologies used in the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3108" y="5928424"/>
            <a:ext cx="17674892" cy="4170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5"/>
              </a:lnSpc>
              <a:spcBef>
                <a:spcPct val="0"/>
              </a:spcBef>
            </a:pPr>
            <a:r>
              <a:rPr lang="en-US" sz="3052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 solution leverages Google technologies to ensure scalability, security, and reliability.</a:t>
            </a:r>
          </a:p>
          <a:p>
            <a:pPr algn="l">
              <a:lnSpc>
                <a:spcPts val="4395"/>
              </a:lnSpc>
              <a:spcBef>
                <a:spcPct val="0"/>
              </a:spcBef>
            </a:pPr>
          </a:p>
          <a:p>
            <a:pPr algn="l" marL="610224" indent="-305112" lvl="1">
              <a:lnSpc>
                <a:spcPts val="4070"/>
              </a:lnSpc>
              <a:buFont typeface="Arial"/>
              <a:buChar char="•"/>
            </a:pPr>
            <a:r>
              <a:rPr lang="en-US" b="true" sz="2826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Firebase Authentication:</a:t>
            </a:r>
            <a:r>
              <a:rPr lang="en-US" sz="2826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Enables secure Google Sign-In restricted to college email domains</a:t>
            </a:r>
          </a:p>
          <a:p>
            <a:pPr algn="l" marL="610224" indent="-305112" lvl="1">
              <a:lnSpc>
                <a:spcPts val="4070"/>
              </a:lnSpc>
              <a:buFont typeface="Arial"/>
              <a:buChar char="•"/>
            </a:pPr>
            <a:r>
              <a:rPr lang="en-US" b="true" sz="2826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Firebase Firestore:</a:t>
            </a:r>
            <a:r>
              <a:rPr lang="en-US" sz="2826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Stores structured playbook data with real-time access</a:t>
            </a:r>
          </a:p>
          <a:p>
            <a:pPr algn="l" marL="610224" indent="-305112" lvl="1">
              <a:lnSpc>
                <a:spcPts val="4070"/>
              </a:lnSpc>
              <a:buFont typeface="Arial"/>
              <a:buChar char="•"/>
            </a:pPr>
            <a:r>
              <a:rPr lang="en-US" b="true" sz="2826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Google Cloud Platform:</a:t>
            </a:r>
            <a:r>
              <a:rPr lang="en-US" sz="2826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Supports backend services and future scalability</a:t>
            </a:r>
          </a:p>
          <a:p>
            <a:pPr algn="l" marL="609750" indent="-304875" lvl="1">
              <a:lnSpc>
                <a:spcPts val="4066"/>
              </a:lnSpc>
              <a:buFont typeface="Arial"/>
              <a:buChar char="•"/>
            </a:pPr>
            <a:r>
              <a:rPr lang="en-US" b="true" sz="2824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Gemini AI (Future Enhancement):</a:t>
            </a:r>
            <a:r>
              <a:rPr lang="en-US" sz="2824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Used to summarize playbooks, extract key topics, and generate preparation insights</a:t>
            </a:r>
          </a:p>
          <a:p>
            <a:pPr algn="l">
              <a:lnSpc>
                <a:spcPts val="3878"/>
              </a:lnSpc>
              <a:spcBef>
                <a:spcPct val="0"/>
              </a:spcBef>
            </a:pPr>
            <a:r>
              <a:rPr lang="en-US" sz="2693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</a:t>
            </a:r>
            <a:r>
              <a:rPr lang="en-US" sz="2693" i="true">
                <a:solidFill>
                  <a:srgbClr val="43434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This technology stack aligns with Google Solution Challenge standards.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737926" cy="627774"/>
            <a:chOff x="0" y="0"/>
            <a:chExt cx="6317234" cy="837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17234" cy="837057"/>
            </a:xfrm>
            <a:custGeom>
              <a:avLst/>
              <a:gdLst/>
              <a:ahLst/>
              <a:cxnLst/>
              <a:rect r="r" b="b" t="t" l="l"/>
              <a:pathLst>
                <a:path h="837057" w="6317234">
                  <a:moveTo>
                    <a:pt x="0" y="0"/>
                  </a:moveTo>
                  <a:lnTo>
                    <a:pt x="6317234" y="0"/>
                  </a:lnTo>
                  <a:lnTo>
                    <a:pt x="6317234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14" r="0" b="-31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733552" y="823726"/>
            <a:ext cx="10472391" cy="5707453"/>
          </a:xfrm>
          <a:custGeom>
            <a:avLst/>
            <a:gdLst/>
            <a:ahLst/>
            <a:cxnLst/>
            <a:rect r="r" b="b" t="t" l="l"/>
            <a:pathLst>
              <a:path h="5707453" w="10472391">
                <a:moveTo>
                  <a:pt x="0" y="0"/>
                </a:moveTo>
                <a:lnTo>
                  <a:pt x="10472390" y="0"/>
                </a:lnTo>
                <a:lnTo>
                  <a:pt x="10472390" y="5707452"/>
                </a:lnTo>
                <a:lnTo>
                  <a:pt x="0" y="5707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70468">
            <a:off x="1536937" y="3084736"/>
            <a:ext cx="4856983" cy="2825881"/>
          </a:xfrm>
          <a:custGeom>
            <a:avLst/>
            <a:gdLst/>
            <a:ahLst/>
            <a:cxnLst/>
            <a:rect r="r" b="b" t="t" l="l"/>
            <a:pathLst>
              <a:path h="2825881" w="4856983">
                <a:moveTo>
                  <a:pt x="0" y="0"/>
                </a:moveTo>
                <a:lnTo>
                  <a:pt x="4856983" y="0"/>
                </a:lnTo>
                <a:lnTo>
                  <a:pt x="4856983" y="2825881"/>
                </a:lnTo>
                <a:lnTo>
                  <a:pt x="0" y="28258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57527" y="-95250"/>
            <a:ext cx="12201773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0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 flow diagram or Use-case diagram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6408" y="6152174"/>
            <a:ext cx="12999364" cy="3730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b="true" sz="26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User Journey:</a:t>
            </a:r>
          </a:p>
          <a:p>
            <a:pPr algn="l" marL="561341" indent="-280670" lvl="1">
              <a:lnSpc>
                <a:spcPts val="3744"/>
              </a:lnSpc>
              <a:buFont typeface="Arial"/>
              <a:buChar char="•"/>
            </a:pPr>
            <a:r>
              <a:rPr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User logs in using college email</a:t>
            </a:r>
          </a:p>
          <a:p>
            <a:pPr algn="l" marL="561341" indent="-280670" lvl="1">
              <a:lnSpc>
                <a:spcPts val="3744"/>
              </a:lnSpc>
              <a:buFont typeface="Arial"/>
              <a:buChar char="•"/>
            </a:pPr>
            <a:r>
              <a:rPr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First-time users complete profile setup</a:t>
            </a:r>
          </a:p>
          <a:p>
            <a:pPr algn="l" marL="561341" indent="-280670" lvl="1">
              <a:lnSpc>
                <a:spcPts val="3744"/>
              </a:lnSpc>
              <a:buFont typeface="Arial"/>
              <a:buChar char="•"/>
            </a:pPr>
            <a:r>
              <a:rPr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User is redirected to the dashboard</a:t>
            </a:r>
          </a:p>
          <a:p>
            <a:pPr algn="l" marL="561341" indent="-280670" lvl="1">
              <a:lnSpc>
                <a:spcPts val="3744"/>
              </a:lnSpc>
              <a:buFont typeface="Arial"/>
              <a:buChar char="•"/>
            </a:pPr>
            <a:r>
              <a:rPr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Junior users browse and read placement playbooks</a:t>
            </a:r>
          </a:p>
          <a:p>
            <a:pPr algn="l" marL="561341" indent="-280670" lvl="1">
              <a:lnSpc>
                <a:spcPts val="3744"/>
              </a:lnSpc>
              <a:buFont typeface="Arial"/>
              <a:buChar char="•"/>
            </a:pPr>
            <a:r>
              <a:rPr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Senior users submit their interview journeys</a:t>
            </a:r>
          </a:p>
          <a:p>
            <a:pPr algn="l" marL="561341" indent="-280670" lvl="1">
              <a:lnSpc>
                <a:spcPts val="3744"/>
              </a:lnSpc>
              <a:buFont typeface="Arial"/>
              <a:buChar char="•"/>
            </a:pPr>
            <a:r>
              <a:rPr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Content is stored and reused by future batches</a:t>
            </a:r>
          </a:p>
          <a:p>
            <a:pPr algn="l">
              <a:lnSpc>
                <a:spcPts val="3744"/>
              </a:lnSpc>
            </a:pPr>
            <a:r>
              <a:rPr lang="en-US" b="true" sz="26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The same platform supports both roles, ensuring simplicity and consistency.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57527" y="27356"/>
            <a:ext cx="12560202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0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diagram of the proposed solution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48001"/>
            <a:ext cx="4737926" cy="627774"/>
            <a:chOff x="0" y="0"/>
            <a:chExt cx="6317234" cy="8370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17234" cy="837057"/>
            </a:xfrm>
            <a:custGeom>
              <a:avLst/>
              <a:gdLst/>
              <a:ahLst/>
              <a:cxnLst/>
              <a:rect r="r" b="b" t="t" l="l"/>
              <a:pathLst>
                <a:path h="837057" w="6317234">
                  <a:moveTo>
                    <a:pt x="0" y="0"/>
                  </a:moveTo>
                  <a:lnTo>
                    <a:pt x="6317234" y="0"/>
                  </a:lnTo>
                  <a:lnTo>
                    <a:pt x="6317234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14" r="0" b="-312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649712" y="1222438"/>
            <a:ext cx="11942789" cy="6419741"/>
          </a:xfrm>
          <a:custGeom>
            <a:avLst/>
            <a:gdLst/>
            <a:ahLst/>
            <a:cxnLst/>
            <a:rect r="r" b="b" t="t" l="l"/>
            <a:pathLst>
              <a:path h="6419741" w="11942789">
                <a:moveTo>
                  <a:pt x="0" y="0"/>
                </a:moveTo>
                <a:lnTo>
                  <a:pt x="11942789" y="0"/>
                </a:lnTo>
                <a:lnTo>
                  <a:pt x="11942789" y="6419742"/>
                </a:lnTo>
                <a:lnTo>
                  <a:pt x="0" y="6419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93" r="0" b="-69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191" y="758762"/>
            <a:ext cx="5263991" cy="46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  <a:spcBef>
                <a:spcPct val="0"/>
              </a:spcBef>
            </a:pPr>
            <a:r>
              <a:rPr lang="en-US" b="true" sz="26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 Overview: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4244" y="7575505"/>
            <a:ext cx="12757547" cy="251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Frontend Web Application handles user interaction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Firebase Authentication verifies college email access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Firestore Database stores playbooks and user profiles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Google Cloud Services manage backend operations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Optional Gemini AI layer enhances content intelligence</a:t>
            </a:r>
          </a:p>
          <a:p>
            <a:pPr algn="l" marL="496571" indent="-248285" lvl="1">
              <a:lnSpc>
                <a:spcPts val="3312"/>
              </a:lnSpc>
              <a:buFont typeface="Arial"/>
              <a:buChar char="•"/>
            </a:pPr>
            <a:r>
              <a:rPr lang="en-US" sz="23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 architecture is simple, secure, and feasible for hackathon-level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1087"/>
            <a:ext cx="4737926" cy="627774"/>
            <a:chOff x="0" y="0"/>
            <a:chExt cx="6317234" cy="837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17234" cy="837057"/>
            </a:xfrm>
            <a:custGeom>
              <a:avLst/>
              <a:gdLst/>
              <a:ahLst/>
              <a:cxnLst/>
              <a:rect r="r" b="b" t="t" l="l"/>
              <a:pathLst>
                <a:path h="837057" w="6317234">
                  <a:moveTo>
                    <a:pt x="0" y="0"/>
                  </a:moveTo>
                  <a:lnTo>
                    <a:pt x="6317234" y="0"/>
                  </a:lnTo>
                  <a:lnTo>
                    <a:pt x="6317234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14" r="0" b="-31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7312" y="822695"/>
            <a:ext cx="6902294" cy="3183683"/>
          </a:xfrm>
          <a:custGeom>
            <a:avLst/>
            <a:gdLst/>
            <a:ahLst/>
            <a:cxnLst/>
            <a:rect r="r" b="b" t="t" l="l"/>
            <a:pathLst>
              <a:path h="3183683" w="6902294">
                <a:moveTo>
                  <a:pt x="0" y="0"/>
                </a:moveTo>
                <a:lnTo>
                  <a:pt x="6902294" y="0"/>
                </a:lnTo>
                <a:lnTo>
                  <a:pt x="6902294" y="3183683"/>
                </a:lnTo>
                <a:lnTo>
                  <a:pt x="0" y="3183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67600" y="1028700"/>
            <a:ext cx="4690755" cy="2664195"/>
          </a:xfrm>
          <a:custGeom>
            <a:avLst/>
            <a:gdLst/>
            <a:ahLst/>
            <a:cxnLst/>
            <a:rect r="r" b="b" t="t" l="l"/>
            <a:pathLst>
              <a:path h="2664195" w="4690755">
                <a:moveTo>
                  <a:pt x="0" y="0"/>
                </a:moveTo>
                <a:lnTo>
                  <a:pt x="4690756" y="0"/>
                </a:lnTo>
                <a:lnTo>
                  <a:pt x="4690756" y="2664195"/>
                </a:lnTo>
                <a:lnTo>
                  <a:pt x="0" y="266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63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56350" y="815410"/>
            <a:ext cx="5689760" cy="3090774"/>
          </a:xfrm>
          <a:custGeom>
            <a:avLst/>
            <a:gdLst/>
            <a:ahLst/>
            <a:cxnLst/>
            <a:rect r="r" b="b" t="t" l="l"/>
            <a:pathLst>
              <a:path h="3090774" w="5689760">
                <a:moveTo>
                  <a:pt x="0" y="0"/>
                </a:moveTo>
                <a:lnTo>
                  <a:pt x="5689761" y="0"/>
                </a:lnTo>
                <a:lnTo>
                  <a:pt x="5689761" y="3090775"/>
                </a:lnTo>
                <a:lnTo>
                  <a:pt x="0" y="3090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49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3144" y="4473935"/>
            <a:ext cx="5650629" cy="2556910"/>
          </a:xfrm>
          <a:custGeom>
            <a:avLst/>
            <a:gdLst/>
            <a:ahLst/>
            <a:cxnLst/>
            <a:rect r="r" b="b" t="t" l="l"/>
            <a:pathLst>
              <a:path h="2556910" w="5650629">
                <a:moveTo>
                  <a:pt x="0" y="0"/>
                </a:moveTo>
                <a:lnTo>
                  <a:pt x="5650629" y="0"/>
                </a:lnTo>
                <a:lnTo>
                  <a:pt x="5650629" y="2556910"/>
                </a:lnTo>
                <a:lnTo>
                  <a:pt x="0" y="2556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85990" y="4006378"/>
            <a:ext cx="6453977" cy="2893150"/>
          </a:xfrm>
          <a:custGeom>
            <a:avLst/>
            <a:gdLst/>
            <a:ahLst/>
            <a:cxnLst/>
            <a:rect r="r" b="b" t="t" l="l"/>
            <a:pathLst>
              <a:path h="2893150" w="6453977">
                <a:moveTo>
                  <a:pt x="0" y="0"/>
                </a:moveTo>
                <a:lnTo>
                  <a:pt x="6453976" y="0"/>
                </a:lnTo>
                <a:lnTo>
                  <a:pt x="6453976" y="2893150"/>
                </a:lnTo>
                <a:lnTo>
                  <a:pt x="0" y="2893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859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30545" y="4398573"/>
            <a:ext cx="5415566" cy="2707635"/>
          </a:xfrm>
          <a:custGeom>
            <a:avLst/>
            <a:gdLst/>
            <a:ahLst/>
            <a:cxnLst/>
            <a:rect r="r" b="b" t="t" l="l"/>
            <a:pathLst>
              <a:path h="2707635" w="5415566">
                <a:moveTo>
                  <a:pt x="0" y="0"/>
                </a:moveTo>
                <a:lnTo>
                  <a:pt x="5415566" y="0"/>
                </a:lnTo>
                <a:lnTo>
                  <a:pt x="5415566" y="2707635"/>
                </a:lnTo>
                <a:lnTo>
                  <a:pt x="0" y="27076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141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815" y="7380848"/>
            <a:ext cx="6248959" cy="2788598"/>
          </a:xfrm>
          <a:custGeom>
            <a:avLst/>
            <a:gdLst/>
            <a:ahLst/>
            <a:cxnLst/>
            <a:rect r="r" b="b" t="t" l="l"/>
            <a:pathLst>
              <a:path h="2788598" w="6248959">
                <a:moveTo>
                  <a:pt x="0" y="0"/>
                </a:moveTo>
                <a:lnTo>
                  <a:pt x="6248958" y="0"/>
                </a:lnTo>
                <a:lnTo>
                  <a:pt x="6248958" y="2788597"/>
                </a:lnTo>
                <a:lnTo>
                  <a:pt x="0" y="27885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074930" y="7389694"/>
            <a:ext cx="6021984" cy="2687311"/>
          </a:xfrm>
          <a:custGeom>
            <a:avLst/>
            <a:gdLst/>
            <a:ahLst/>
            <a:cxnLst/>
            <a:rect r="r" b="b" t="t" l="l"/>
            <a:pathLst>
              <a:path h="2687311" w="6021984">
                <a:moveTo>
                  <a:pt x="0" y="0"/>
                </a:moveTo>
                <a:lnTo>
                  <a:pt x="6021985" y="0"/>
                </a:lnTo>
                <a:lnTo>
                  <a:pt x="6021985" y="2687310"/>
                </a:lnTo>
                <a:lnTo>
                  <a:pt x="0" y="26873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278550" y="7380848"/>
            <a:ext cx="4867561" cy="2603716"/>
          </a:xfrm>
          <a:custGeom>
            <a:avLst/>
            <a:gdLst/>
            <a:ahLst/>
            <a:cxnLst/>
            <a:rect r="r" b="b" t="t" l="l"/>
            <a:pathLst>
              <a:path h="2603716" w="4867561">
                <a:moveTo>
                  <a:pt x="0" y="0"/>
                </a:moveTo>
                <a:lnTo>
                  <a:pt x="4867561" y="0"/>
                </a:lnTo>
                <a:lnTo>
                  <a:pt x="4867561" y="2603715"/>
                </a:lnTo>
                <a:lnTo>
                  <a:pt x="0" y="260371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1886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074930" y="-61341"/>
            <a:ext cx="4644152" cy="60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33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Snapshots of the MVP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53958" y="-104775"/>
            <a:ext cx="8264604" cy="58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b="true" sz="32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Additional Details/Future Development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08290"/>
            <a:ext cx="4737926" cy="627774"/>
            <a:chOff x="0" y="0"/>
            <a:chExt cx="6317234" cy="8370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17234" cy="837057"/>
            </a:xfrm>
            <a:custGeom>
              <a:avLst/>
              <a:gdLst/>
              <a:ahLst/>
              <a:cxnLst/>
              <a:rect r="r" b="b" t="t" l="l"/>
              <a:pathLst>
                <a:path h="837057" w="6317234">
                  <a:moveTo>
                    <a:pt x="0" y="0"/>
                  </a:moveTo>
                  <a:lnTo>
                    <a:pt x="6317234" y="0"/>
                  </a:lnTo>
                  <a:lnTo>
                    <a:pt x="6317234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14" r="0" b="-312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973871" y="736063"/>
            <a:ext cx="9824778" cy="5354504"/>
          </a:xfrm>
          <a:custGeom>
            <a:avLst/>
            <a:gdLst/>
            <a:ahLst/>
            <a:cxnLst/>
            <a:rect r="r" b="b" t="t" l="l"/>
            <a:pathLst>
              <a:path h="5354504" w="9824778">
                <a:moveTo>
                  <a:pt x="0" y="0"/>
                </a:moveTo>
                <a:lnTo>
                  <a:pt x="9824779" y="0"/>
                </a:lnTo>
                <a:lnTo>
                  <a:pt x="9824779" y="5354505"/>
                </a:lnTo>
                <a:lnTo>
                  <a:pt x="0" y="5354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9019" y="6084599"/>
            <a:ext cx="16088756" cy="420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6"/>
              </a:lnSpc>
              <a:spcBef>
                <a:spcPct val="0"/>
              </a:spcBef>
            </a:pPr>
            <a:r>
              <a:rPr lang="en-US" b="true" sz="283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Enhancements</a:t>
            </a:r>
          </a:p>
          <a:p>
            <a:pPr algn="l" marL="545668" indent="-272834" lvl="1">
              <a:lnSpc>
                <a:spcPts val="3639"/>
              </a:lnSpc>
              <a:buFont typeface="Arial"/>
              <a:buChar char="•"/>
            </a:pPr>
            <a:r>
              <a:rPr lang="en-US" sz="2527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Expansion to multiple colleges</a:t>
            </a:r>
          </a:p>
          <a:p>
            <a:pPr algn="l" marL="545668" indent="-272834" lvl="1">
              <a:lnSpc>
                <a:spcPts val="3639"/>
              </a:lnSpc>
              <a:buFont typeface="Arial"/>
              <a:buChar char="•"/>
            </a:pPr>
            <a:r>
              <a:rPr lang="en-US" sz="2527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AI-powered summarization and topic recommendations</a:t>
            </a:r>
          </a:p>
          <a:p>
            <a:pPr algn="l" marL="545668" indent="-272834" lvl="1">
              <a:lnSpc>
                <a:spcPts val="3639"/>
              </a:lnSpc>
              <a:buFont typeface="Arial"/>
              <a:buChar char="•"/>
            </a:pPr>
            <a:r>
              <a:rPr lang="en-US" sz="2527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Analytics on frequently asked interview topics</a:t>
            </a:r>
          </a:p>
          <a:p>
            <a:pPr algn="l" marL="545668" indent="-272834" lvl="1">
              <a:lnSpc>
                <a:spcPts val="3639"/>
              </a:lnSpc>
              <a:buFont typeface="Arial"/>
              <a:buChar char="•"/>
            </a:pPr>
            <a:r>
              <a:rPr lang="en-US" sz="2527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Placement trend insights across batches</a:t>
            </a:r>
          </a:p>
          <a:p>
            <a:pPr algn="l" marL="545668" indent="-272834" lvl="1">
              <a:lnSpc>
                <a:spcPts val="3639"/>
              </a:lnSpc>
              <a:buFont typeface="Arial"/>
              <a:buChar char="•"/>
            </a:pPr>
            <a:r>
              <a:rPr lang="en-US" sz="2527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Mentor recommendation features</a:t>
            </a:r>
          </a:p>
          <a:p>
            <a:pPr algn="l">
              <a:lnSpc>
                <a:spcPts val="4076"/>
              </a:lnSpc>
              <a:spcBef>
                <a:spcPct val="0"/>
              </a:spcBef>
            </a:pPr>
            <a:r>
              <a:rPr lang="en-US" b="true" sz="283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UN SDG Alignment</a:t>
            </a:r>
          </a:p>
          <a:p>
            <a:pPr algn="l" marL="545668" indent="-272834" lvl="1">
              <a:lnSpc>
                <a:spcPts val="3639"/>
              </a:lnSpc>
              <a:buFont typeface="Arial"/>
              <a:buChar char="•"/>
            </a:pPr>
            <a:r>
              <a:rPr lang="en-US" sz="2527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SDG 4 – Quality Education</a:t>
            </a:r>
          </a:p>
          <a:p>
            <a:pPr algn="l" marL="545668" indent="-272834" lvl="1">
              <a:lnSpc>
                <a:spcPts val="3639"/>
              </a:lnSpc>
              <a:buFont typeface="Arial"/>
              <a:buChar char="•"/>
            </a:pPr>
            <a:r>
              <a:rPr lang="en-US" sz="2527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SDG 8 – Decent Work and Economic Growth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629" y="1625022"/>
            <a:ext cx="17483547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b="true" sz="36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Provide links to your:</a:t>
            </a:r>
          </a:p>
          <a:p>
            <a:pPr algn="l">
              <a:lnSpc>
                <a:spcPts val="3135"/>
              </a:lnSpc>
            </a:pPr>
          </a:p>
          <a:p>
            <a:pPr algn="l" marL="1427480" indent="-475827" lvl="2">
              <a:lnSpc>
                <a:spcPts val="5184"/>
              </a:lnSpc>
              <a:buAutoNum type="arabicPeriod" startAt="1"/>
            </a:pPr>
            <a:r>
              <a:rPr lang="en-US" b="true" sz="36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GitHub Public Repository</a:t>
            </a:r>
          </a:p>
          <a:p>
            <a:pPr algn="l" marL="1427480" indent="-475827" lvl="2">
              <a:lnSpc>
                <a:spcPts val="5184"/>
              </a:lnSpc>
              <a:buAutoNum type="arabicPeriod" startAt="1"/>
            </a:pPr>
            <a:r>
              <a:rPr lang="en-US" b="true" sz="36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Demo Video Link (3 Minutes)</a:t>
            </a:r>
          </a:p>
          <a:p>
            <a:pPr algn="l" marL="1427480" indent="-475827" lvl="2">
              <a:lnSpc>
                <a:spcPts val="5184"/>
              </a:lnSpc>
              <a:buAutoNum type="arabicPeriod" startAt="1"/>
            </a:pPr>
            <a:r>
              <a:rPr lang="en-US" b="true" sz="3600">
                <a:solidFill>
                  <a:srgbClr val="434343"/>
                </a:solidFill>
                <a:latin typeface="Poppins Bold"/>
                <a:ea typeface="Poppins Bold"/>
                <a:cs typeface="Poppins Bold"/>
                <a:sym typeface="Poppins Bold"/>
              </a:rPr>
              <a:t>MVP Link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19602" y="348348"/>
            <a:ext cx="3653057" cy="654853"/>
            <a:chOff x="0" y="0"/>
            <a:chExt cx="4870742" cy="8731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0704" cy="873125"/>
            </a:xfrm>
            <a:custGeom>
              <a:avLst/>
              <a:gdLst/>
              <a:ahLst/>
              <a:cxnLst/>
              <a:rect r="r" b="b" t="t" l="l"/>
              <a:pathLst>
                <a:path h="873125" w="4870704">
                  <a:moveTo>
                    <a:pt x="0" y="0"/>
                  </a:moveTo>
                  <a:lnTo>
                    <a:pt x="4870704" y="0"/>
                  </a:lnTo>
                  <a:lnTo>
                    <a:pt x="4870704" y="873125"/>
                  </a:lnTo>
                  <a:lnTo>
                    <a:pt x="0" y="873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" r="0" b="-10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9602" y="375428"/>
            <a:ext cx="4737926" cy="627774"/>
            <a:chOff x="0" y="0"/>
            <a:chExt cx="6317234" cy="8370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17234" cy="837057"/>
            </a:xfrm>
            <a:custGeom>
              <a:avLst/>
              <a:gdLst/>
              <a:ahLst/>
              <a:cxnLst/>
              <a:rect r="r" b="b" t="t" l="l"/>
              <a:pathLst>
                <a:path h="837057" w="6317234">
                  <a:moveTo>
                    <a:pt x="0" y="0"/>
                  </a:moveTo>
                  <a:lnTo>
                    <a:pt x="6317234" y="0"/>
                  </a:lnTo>
                  <a:lnTo>
                    <a:pt x="6317234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4" r="0" b="-312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77974" y="3244278"/>
            <a:ext cx="8650324" cy="1899222"/>
          </a:xfrm>
          <a:custGeom>
            <a:avLst/>
            <a:gdLst/>
            <a:ahLst/>
            <a:cxnLst/>
            <a:rect r="r" b="b" t="t" l="l"/>
            <a:pathLst>
              <a:path h="1899222" w="8650324">
                <a:moveTo>
                  <a:pt x="0" y="0"/>
                </a:moveTo>
                <a:lnTo>
                  <a:pt x="8650324" y="0"/>
                </a:lnTo>
                <a:lnTo>
                  <a:pt x="8650324" y="1899222"/>
                </a:lnTo>
                <a:lnTo>
                  <a:pt x="0" y="18992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7973" y="7226751"/>
            <a:ext cx="7242753" cy="228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7"/>
              </a:lnSpc>
            </a:pPr>
            <a:r>
              <a:rPr lang="en-US" b="true" sz="9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9114" y="2334806"/>
            <a:ext cx="9567367" cy="241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22"/>
              </a:lnSpc>
            </a:pPr>
            <a:r>
              <a:rPr lang="en-US" b="true" sz="10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Namma Hack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342724" y="4400332"/>
            <a:ext cx="482532" cy="1899222"/>
          </a:xfrm>
          <a:custGeom>
            <a:avLst/>
            <a:gdLst/>
            <a:ahLst/>
            <a:cxnLst/>
            <a:rect r="r" b="b" t="t" l="l"/>
            <a:pathLst>
              <a:path h="1899222" w="482532">
                <a:moveTo>
                  <a:pt x="0" y="0"/>
                </a:moveTo>
                <a:lnTo>
                  <a:pt x="482532" y="0"/>
                </a:lnTo>
                <a:lnTo>
                  <a:pt x="482532" y="1899222"/>
                </a:lnTo>
                <a:lnTo>
                  <a:pt x="0" y="18992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3940" y="1985434"/>
            <a:ext cx="5932894" cy="1178052"/>
          </a:xfrm>
          <a:custGeom>
            <a:avLst/>
            <a:gdLst/>
            <a:ahLst/>
            <a:cxnLst/>
            <a:rect r="r" b="b" t="t" l="l"/>
            <a:pathLst>
              <a:path h="1178052" w="5932894">
                <a:moveTo>
                  <a:pt x="0" y="0"/>
                </a:moveTo>
                <a:lnTo>
                  <a:pt x="5932894" y="0"/>
                </a:lnTo>
                <a:lnTo>
                  <a:pt x="5932894" y="1178052"/>
                </a:lnTo>
                <a:lnTo>
                  <a:pt x="0" y="1178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55310" y="1733874"/>
            <a:ext cx="7666015" cy="1015746"/>
            <a:chOff x="0" y="0"/>
            <a:chExt cx="10221354" cy="13543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21341" cy="1354328"/>
            </a:xfrm>
            <a:custGeom>
              <a:avLst/>
              <a:gdLst/>
              <a:ahLst/>
              <a:cxnLst/>
              <a:rect r="r" b="b" t="t" l="l"/>
              <a:pathLst>
                <a:path h="1354328" w="10221341">
                  <a:moveTo>
                    <a:pt x="0" y="0"/>
                  </a:moveTo>
                  <a:lnTo>
                    <a:pt x="10221341" y="0"/>
                  </a:lnTo>
                  <a:lnTo>
                    <a:pt x="10221341" y="1354328"/>
                  </a:lnTo>
                  <a:lnTo>
                    <a:pt x="0" y="1354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14" r="0" b="-31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DAG9LyYpasw</dc:identifier>
  <dcterms:modified xsi:type="dcterms:W3CDTF">2011-08-01T06:04:30Z</dcterms:modified>
  <cp:revision>1</cp:revision>
  <dc:title>campusplaybook</dc:title>
</cp:coreProperties>
</file>